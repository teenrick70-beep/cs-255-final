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varScale="1">
        <p:scale>
          <a:sx n="74" d="100"/>
          <a:sy n="74" d="100"/>
        </p:scale>
        <p:origin x="178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a:t>
            </a:r>
            <a:r>
              <a:rPr lang="en-US" baseline="0"/>
              <a:t> </a:t>
            </a:r>
            <a:r>
              <a:rPr lang="en-US" baseline="0" dirty="0"/>
              <a:t>speaker notes are required for this </a:t>
            </a:r>
            <a:r>
              <a:rPr lang="en-US" baseline="0"/>
              <a:t>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err="1">
                <a:solidFill>
                  <a:schemeClr val="tx1"/>
                </a:solidFill>
                <a:effectLst/>
                <a:latin typeface="+mn-lt"/>
                <a:ea typeface="+mn-ea"/>
                <a:cs typeface="+mn-cs"/>
              </a:rPr>
              <a:t>DriverPass</a:t>
            </a:r>
            <a:r>
              <a:rPr lang="en-US" sz="1200" kern="1200" dirty="0">
                <a:solidFill>
                  <a:schemeClr val="tx1"/>
                </a:solidFill>
                <a:effectLst/>
                <a:latin typeface="+mn-lt"/>
                <a:ea typeface="+mn-ea"/>
                <a:cs typeface="+mn-cs"/>
              </a:rPr>
              <a:t> needs one place for the student to do their DMV test prep and training. Students and office staff can book two-hour lessons, and customers with the right package can take the online practice tests. Security is obviously important, as the staff has different roles. The system will have appropriate access permissions and will be usable via the standard web browsers on both PC and mobile devices.</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diagram illustrates the way various users interact with </a:t>
            </a:r>
            <a:r>
              <a:rPr lang="en-US" sz="1200" kern="1200" dirty="0" err="1">
                <a:solidFill>
                  <a:schemeClr val="tx1"/>
                </a:solidFill>
                <a:effectLst/>
                <a:latin typeface="+mn-lt"/>
                <a:ea typeface="+mn-ea"/>
                <a:cs typeface="+mn-cs"/>
              </a:rPr>
              <a:t>DriverPass</a:t>
            </a:r>
            <a:r>
              <a:rPr lang="en-US" sz="1200" kern="1200" dirty="0">
                <a:solidFill>
                  <a:schemeClr val="tx1"/>
                </a:solidFill>
                <a:effectLst/>
                <a:latin typeface="+mn-lt"/>
                <a:ea typeface="+mn-ea"/>
                <a:cs typeface="+mn-cs"/>
              </a:rPr>
              <a:t>. The customer registers, selects a package, manages their lessons, and accesses training when appropriate. The secretary assists the customer with the registration and appointment scheduling. The instructor enters the lesson notes. The owner looks at the reports and manages the package availability. The IT officer looks after the accounts. The DMV update notices are used by staff to keep the training information up to date.</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is a diagram of a student/secretary going through the process of booking a driving lesson. They sign in and select a date and time. </a:t>
            </a:r>
            <a:r>
              <a:rPr lang="en-US" sz="1200" kern="1200" dirty="0" err="1">
                <a:solidFill>
                  <a:schemeClr val="tx1"/>
                </a:solidFill>
                <a:effectLst/>
                <a:latin typeface="+mn-lt"/>
                <a:ea typeface="+mn-ea"/>
                <a:cs typeface="+mn-cs"/>
              </a:rPr>
              <a:t>DriverPass</a:t>
            </a:r>
            <a:r>
              <a:rPr lang="en-US" sz="1200" kern="1200" dirty="0">
                <a:solidFill>
                  <a:schemeClr val="tx1"/>
                </a:solidFill>
                <a:effectLst/>
                <a:latin typeface="+mn-lt"/>
                <a:ea typeface="+mn-ea"/>
                <a:cs typeface="+mn-cs"/>
              </a:rPr>
              <a:t> then looks for an available instructor and vehicle for that two-hour period. If there's a conflict, then another option has to be selected. Once a valid appointment has been found, it is saved, and the person who booked it is recorded. This obviously prevents double booking and offers clear records.</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system protects customer data through a sign-in requirement and permission levels based on the individual's role. A customer should not be able to view another customer's private information, and the IT officer would have the ability to manage accounts. Information is protected in transit via secure connections. There is a record of all changes to appointments so that </a:t>
            </a:r>
            <a:r>
              <a:rPr lang="en-US" sz="1200" kern="1200" dirty="0" err="1">
                <a:solidFill>
                  <a:schemeClr val="tx1"/>
                </a:solidFill>
                <a:effectLst/>
                <a:latin typeface="+mn-lt"/>
                <a:ea typeface="+mn-ea"/>
                <a:cs typeface="+mn-cs"/>
              </a:rPr>
              <a:t>DriverPass</a:t>
            </a:r>
            <a:r>
              <a:rPr lang="en-US" sz="1200" kern="1200" dirty="0">
                <a:solidFill>
                  <a:schemeClr val="tx1"/>
                </a:solidFill>
                <a:effectLst/>
                <a:latin typeface="+mn-lt"/>
                <a:ea typeface="+mn-ea"/>
                <a:cs typeface="+mn-cs"/>
              </a:rPr>
              <a:t> can investigate any errors and produce reports. There is cloud backup and recovery in place to reduce the danger of data loss.</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system has a number of caveats. Staff and students will need internet access in order to make changes, although they can download and view the authorized reports offline. DMV updates will be dependent on information being made available via a supported external source. </a:t>
            </a:r>
            <a:r>
              <a:rPr lang="en-US" sz="1200" kern="1200" dirty="0" err="1">
                <a:solidFill>
                  <a:schemeClr val="tx1"/>
                </a:solidFill>
                <a:effectLst/>
                <a:latin typeface="+mn-lt"/>
                <a:ea typeface="+mn-ea"/>
                <a:cs typeface="+mn-cs"/>
              </a:rPr>
              <a:t>DriverPass</a:t>
            </a:r>
            <a:r>
              <a:rPr lang="en-US" sz="1200" kern="1200" dirty="0">
                <a:solidFill>
                  <a:schemeClr val="tx1"/>
                </a:solidFill>
                <a:effectLst/>
                <a:latin typeface="+mn-lt"/>
                <a:ea typeface="+mn-ea"/>
                <a:cs typeface="+mn-cs"/>
              </a:rPr>
              <a:t> can turn off the existing packages but would require additional development to create new system packages. There will be potential for disruption from the cloud services and other external providers. The client will also need to confirm their expectations in terms of capacity, availability, and recovery prior to launch.</a:t>
            </a:r>
          </a:p>
          <a:p>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10/19/2026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10/19/2026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10/19/2026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10/19/2026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10/19/2026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10/19/2026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10/19/2026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10/19/2026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10/19/2026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10/19/2026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10/19/2026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10/19/2026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Ricky Bowman</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a:t>• Functional </a:t>
            </a:r>
            <a:r>
              <a:rPr lang="en-US" dirty="0"/>
              <a:t>requirements:</a:t>
            </a:r>
            <a:br>
              <a:rPr lang="en-US" dirty="0"/>
            </a:br>
            <a:r>
              <a:rPr lang="en-US" dirty="0"/>
              <a:t>• Schedule, change, and cancel two-hour lessons</a:t>
            </a:r>
            <a:br>
              <a:rPr lang="en-US" dirty="0"/>
            </a:br>
            <a:r>
              <a:rPr lang="en-US" dirty="0"/>
              <a:t>• Provide package-eligible online classes and practice tests</a:t>
            </a:r>
            <a:br>
              <a:rPr lang="en-US" dirty="0"/>
            </a:br>
            <a:br>
              <a:rPr lang="en-US" dirty="0"/>
            </a:br>
            <a:r>
              <a:rPr lang="en-US" dirty="0"/>
              <a:t>Nonfunctional requirements:</a:t>
            </a:r>
            <a:br>
              <a:rPr lang="en-US" dirty="0"/>
            </a:br>
            <a:r>
              <a:rPr lang="en-US" dirty="0"/>
              <a:t>• Secure access based on staff responsibilities</a:t>
            </a:r>
            <a:br>
              <a:rPr lang="en-US" dirty="0"/>
            </a:br>
            <a:r>
              <a:rPr lang="en-US" dirty="0"/>
              <a:t>• Browser access from computers and mobile devices</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4" name="Picture 3">
            <a:extLst>
              <a:ext uri="{FF2B5EF4-FFF2-40B4-BE49-F238E27FC236}">
                <a16:creationId xmlns:a16="http://schemas.microsoft.com/office/drawing/2014/main" id="{20D89FF0-D2A6-D46C-424E-86EF602FC07E}"/>
              </a:ext>
            </a:extLst>
          </p:cNvPr>
          <p:cNvPicPr>
            <a:picLocks noChangeAspect="1"/>
          </p:cNvPicPr>
          <p:nvPr/>
        </p:nvPicPr>
        <p:blipFill>
          <a:blip r:embed="rId5"/>
          <a:stretch>
            <a:fillRect/>
          </a:stretch>
        </p:blipFill>
        <p:spPr>
          <a:xfrm>
            <a:off x="6467229" y="377418"/>
            <a:ext cx="5084691" cy="6103163"/>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6" name="Picture 5">
            <a:extLst>
              <a:ext uri="{FF2B5EF4-FFF2-40B4-BE49-F238E27FC236}">
                <a16:creationId xmlns:a16="http://schemas.microsoft.com/office/drawing/2014/main" id="{72956533-E44E-C885-A6FD-DA7ABB154F36}"/>
              </a:ext>
            </a:extLst>
          </p:cNvPr>
          <p:cNvPicPr>
            <a:picLocks noChangeAspect="1"/>
          </p:cNvPicPr>
          <p:nvPr/>
        </p:nvPicPr>
        <p:blipFill>
          <a:blip r:embed="rId5"/>
          <a:stretch>
            <a:fillRect/>
          </a:stretch>
        </p:blipFill>
        <p:spPr>
          <a:xfrm>
            <a:off x="6249779" y="238259"/>
            <a:ext cx="5302142" cy="6381482"/>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dirty="0"/>
              <a:t>• Secure sign-in and password resets</a:t>
            </a:r>
            <a:br>
              <a:rPr lang="en-US" dirty="0"/>
            </a:br>
            <a:r>
              <a:rPr lang="en-US" dirty="0"/>
              <a:t>• Different access for customers and employees</a:t>
            </a:r>
            <a:br>
              <a:rPr lang="en-US" dirty="0"/>
            </a:br>
            <a:r>
              <a:rPr lang="en-US" dirty="0"/>
              <a:t>• Encrypted connections and protected information</a:t>
            </a:r>
            <a:br>
              <a:rPr lang="en-US" dirty="0"/>
            </a:br>
            <a:r>
              <a:rPr lang="en-US" dirty="0"/>
              <a:t>• Records of reservation changes</a:t>
            </a:r>
            <a:br>
              <a:rPr lang="en-US" dirty="0"/>
            </a:br>
            <a:r>
              <a:rPr lang="en-US" dirty="0"/>
              <a:t>• Managed backups and recovery</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pPr marL="0" indent="0">
              <a:buNone/>
            </a:pPr>
            <a:r>
              <a:rPr lang="en-US" dirty="0"/>
              <a:t>• Changes to records require internet access</a:t>
            </a:r>
            <a:br>
              <a:rPr lang="en-US" dirty="0"/>
            </a:br>
            <a:r>
              <a:rPr lang="en-US" dirty="0"/>
              <a:t>• DMV updates depend on an available external feed</a:t>
            </a:r>
            <a:br>
              <a:rPr lang="en-US" dirty="0"/>
            </a:br>
            <a:r>
              <a:rPr lang="en-US" dirty="0"/>
              <a:t>• New software modules require future development</a:t>
            </a:r>
            <a:br>
              <a:rPr lang="en-US" dirty="0"/>
            </a:br>
            <a:r>
              <a:rPr lang="en-US" dirty="0"/>
              <a:t>• Cloud and outside services may experience outages</a:t>
            </a:r>
            <a:br>
              <a:rPr lang="en-US" dirty="0"/>
            </a:br>
            <a:r>
              <a:rPr lang="en-US" dirty="0"/>
              <a:t>• Final capacity and recovery targets need client approval</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1457</TotalTime>
  <Words>591</Words>
  <Application>Microsoft Office PowerPoint</Application>
  <PresentationFormat>Widescreen</PresentationFormat>
  <Paragraphs>23</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Ricky Bowman</cp:lastModifiedBy>
  <cp:revision>26</cp:revision>
  <dcterms:created xsi:type="dcterms:W3CDTF">2019-10-14T02:36:52Z</dcterms:created>
  <dcterms:modified xsi:type="dcterms:W3CDTF">2026-10-19T07:19:23Z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